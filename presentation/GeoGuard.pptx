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e69f69f3404798" /><Relationship Type="http://schemas.openxmlformats.org/officeDocument/2006/relationships/extended-properties" Target="/docProps/app.xml" Id="R706c2c6448024c9b" /><Relationship Type="http://schemas.openxmlformats.org/officeDocument/2006/relationships/officeDocument" Target="/ppt/presentation.xml" Id="R3d28a33c9e474f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042a5b33e44554"/>
  </p:sldMasterIdLst>
  <p:notesMasterIdLst>
    <p:notesMasterId xmlns:r="http://schemas.openxmlformats.org/officeDocument/2006/relationships" r:id="Ra0e13f9b86e040c6"/>
  </p:notesMasterIdLst>
  <p:sldIdLst>
    <p:sldId xmlns:r="http://schemas.openxmlformats.org/officeDocument/2006/relationships" id="256" r:id="R5e63187618f64d5b"/>
    <p:sldId xmlns:r="http://schemas.openxmlformats.org/officeDocument/2006/relationships" id="257" r:id="R1e3982195ce74dd5"/>
    <p:sldId xmlns:r="http://schemas.openxmlformats.org/officeDocument/2006/relationships" id="258" r:id="R1e1083055dc24e2f"/>
    <p:sldId xmlns:r="http://schemas.openxmlformats.org/officeDocument/2006/relationships" id="259" r:id="R19c1444e0291443e"/>
    <p:sldId xmlns:r="http://schemas.openxmlformats.org/officeDocument/2006/relationships" id="260" r:id="Rb8acc2b0c4c34000"/>
    <p:sldId xmlns:r="http://schemas.openxmlformats.org/officeDocument/2006/relationships" id="261" r:id="Read0f22d825e42ed"/>
    <p:sldId xmlns:r="http://schemas.openxmlformats.org/officeDocument/2006/relationships" id="262" r:id="Re598ebfb36a64308"/>
    <p:sldId xmlns:r="http://schemas.openxmlformats.org/officeDocument/2006/relationships" id="263" r:id="R3eecb4aab4f74cba"/>
    <p:sldId xmlns:r="http://schemas.openxmlformats.org/officeDocument/2006/relationships" id="264" r:id="R97fcec9305884d74"/>
    <p:sldId xmlns:r="http://schemas.openxmlformats.org/officeDocument/2006/relationships" id="265" r:id="R0f9a7b45a6e54b48"/>
    <p:sldId xmlns:r="http://schemas.openxmlformats.org/officeDocument/2006/relationships" id="266" r:id="R23e05ad03a414190"/>
    <p:sldId xmlns:r="http://schemas.openxmlformats.org/officeDocument/2006/relationships" id="267" r:id="R124cc0cba99a432b"/>
    <p:sldId xmlns:r="http://schemas.openxmlformats.org/officeDocument/2006/relationships" id="268" r:id="R2177c7635e7a45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0e5ce8c92349ff" /><Relationship Type="http://schemas.openxmlformats.org/officeDocument/2006/relationships/slideMaster" Target="/ppt/slideMasters/slideMaster1.xml" Id="Rcf042a5b33e44554" /><Relationship Type="http://schemas.openxmlformats.org/officeDocument/2006/relationships/notesMaster" Target="/ppt/notesMasters/notesMaster1.xml" Id="Ra0e13f9b86e040c6" /><Relationship Type="http://schemas.openxmlformats.org/officeDocument/2006/relationships/presProps" Target="/ppt/presProps.xml" Id="Rb014d06d08704b8c" /><Relationship Type="http://schemas.openxmlformats.org/officeDocument/2006/relationships/tableStyles" Target="/ppt/tableStyles.xml" Id="R9e7ed339092545f6" /><Relationship Type="http://schemas.openxmlformats.org/officeDocument/2006/relationships/slide" Target="/ppt/slides/slide1.xml" Id="R5e63187618f64d5b" /><Relationship Type="http://schemas.openxmlformats.org/officeDocument/2006/relationships/slide" Target="/ppt/slides/slide2.xml" Id="R1e3982195ce74dd5" /><Relationship Type="http://schemas.openxmlformats.org/officeDocument/2006/relationships/slide" Target="/ppt/slides/slide3.xml" Id="R1e1083055dc24e2f" /><Relationship Type="http://schemas.openxmlformats.org/officeDocument/2006/relationships/slide" Target="/ppt/slides/slide4.xml" Id="R19c1444e0291443e" /><Relationship Type="http://schemas.openxmlformats.org/officeDocument/2006/relationships/slide" Target="/ppt/slides/slide5.xml" Id="Rb8acc2b0c4c34000" /><Relationship Type="http://schemas.openxmlformats.org/officeDocument/2006/relationships/slide" Target="/ppt/slides/slide6.xml" Id="Read0f22d825e42ed" /><Relationship Type="http://schemas.openxmlformats.org/officeDocument/2006/relationships/slide" Target="/ppt/slides/slide7.xml" Id="Re598ebfb36a64308" /><Relationship Type="http://schemas.openxmlformats.org/officeDocument/2006/relationships/slide" Target="/ppt/slides/slide8.xml" Id="R3eecb4aab4f74cba" /><Relationship Type="http://schemas.openxmlformats.org/officeDocument/2006/relationships/slide" Target="/ppt/slides/slide9.xml" Id="R97fcec9305884d74" /><Relationship Type="http://schemas.openxmlformats.org/officeDocument/2006/relationships/slide" Target="/ppt/slides/slide10.xml" Id="R0f9a7b45a6e54b48" /><Relationship Type="http://schemas.openxmlformats.org/officeDocument/2006/relationships/slide" Target="/ppt/slides/slide11.xml" Id="R23e05ad03a414190" /><Relationship Type="http://schemas.openxmlformats.org/officeDocument/2006/relationships/slide" Target="/ppt/slides/slide12.xml" Id="R124cc0cba99a432b" /><Relationship Type="http://schemas.openxmlformats.org/officeDocument/2006/relationships/slide" Target="/ppt/slides/slide13.xml" Id="R2177c7635e7a45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de591fecce4b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3ec0f116b4468b" /><Relationship Type="http://schemas.openxmlformats.org/officeDocument/2006/relationships/notesMaster" Target="/ppt/notesMasters/notesMaster1.xml" Id="R2f934179b6fb42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392be777bd4425" /><Relationship Type="http://schemas.openxmlformats.org/officeDocument/2006/relationships/notesMaster" Target="/ppt/notesMasters/notesMaster1.xml" Id="R9439b31a86d74c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86bc6120b54781" /><Relationship Type="http://schemas.openxmlformats.org/officeDocument/2006/relationships/notesMaster" Target="/ppt/notesMasters/notesMaster1.xml" Id="R989a46ada7544d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d0511f811f437e" /><Relationship Type="http://schemas.openxmlformats.org/officeDocument/2006/relationships/notesMaster" Target="/ppt/notesMasters/notesMaster1.xml" Id="R41bc03a1b9b249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0969d61fae47ce" /><Relationship Type="http://schemas.openxmlformats.org/officeDocument/2006/relationships/notesMaster" Target="/ppt/notesMasters/notesMaster1.xml" Id="Rcfe379e43c5248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be9eb310454b5c" /><Relationship Type="http://schemas.openxmlformats.org/officeDocument/2006/relationships/notesMaster" Target="/ppt/notesMasters/notesMaster1.xml" Id="R217e111e15cf4f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ffd4ebbd854fc6" /><Relationship Type="http://schemas.openxmlformats.org/officeDocument/2006/relationships/notesMaster" Target="/ppt/notesMasters/notesMaster1.xml" Id="Rbff859ff84924d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d287071fe544f3" /><Relationship Type="http://schemas.openxmlformats.org/officeDocument/2006/relationships/notesMaster" Target="/ppt/notesMasters/notesMaster1.xml" Id="Rd99d5a17e4a448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b9cf2275bc4530" /><Relationship Type="http://schemas.openxmlformats.org/officeDocument/2006/relationships/notesMaster" Target="/ppt/notesMasters/notesMaster1.xml" Id="R18a7edb668a249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cc1af495de4812" /><Relationship Type="http://schemas.openxmlformats.org/officeDocument/2006/relationships/notesMaster" Target="/ppt/notesMasters/notesMaster1.xml" Id="R96eb7c2ca35b4a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7339ab647b42dd" /><Relationship Type="http://schemas.openxmlformats.org/officeDocument/2006/relationships/notesMaster" Target="/ppt/notesMasters/notesMaster1.xml" Id="Rf2960b45a56243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e574c5d12e40ce" /><Relationship Type="http://schemas.openxmlformats.org/officeDocument/2006/relationships/notesMaster" Target="/ppt/notesMasters/notesMaster1.xml" Id="R618e8352dc0c451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520ce88fdb544df" /><Relationship Type="http://schemas.openxmlformats.org/officeDocument/2006/relationships/notesMaster" Target="/ppt/notesMasters/notesMaster1.xml" Id="R556641a764374f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Research PoC. No source attribution, safety verdict or validated UAE forecast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Team-authored workflow demonstrated in repository and website, 9 October 2026. https://github.com/losth6wz/Geoguard . Proposed benefit; user research and time savings have not been measured. Copernicus observations and unchanged UNEP IMEO MARS-S2L are upstream contributions.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 1.5 and section 2. Four separate quantities; no combined pollution score. Sentinel-5P catalogs: https://developers.google.com/earth-engine/datasets/catalog/COPERNICUS_S5P_NRTI_L3_NO2 ; corresponding CO, SO2 and OFFL CH4 catalogs.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2.2–2.4 and 3.1–3.3. Methane screening uses an approximately 2 × 2 km crop, up to three reference candidates and acquisition-time modeled wind.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2.3 and 4.2. Actual Earth Engine exports: NO₂ 4 October; CO/SO₂/CH₄ 7 October 2026. Equal weighting of usable daily area means. Raw source exports and exact precision available in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3.1–3.3 and 4.2. Image: GeoGuard derived output, Copernicus Sentinel-2 data (2026), pretrained UNEP IMEO MARS-S2L. https://huggingface.co/datasets/UNEP-IMEO/MARS-S2L ; https://github.com/UNEP-IMEO-MARS/marss2l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sections 2.4, 3.5 and 4.4. Public demo: https://losth6wz.github.io/Geoguard/ ; fresh queries use the interactive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actual GeoGuard browser interface on 9 October 2026, locally verified revision of https://losth6wz.github.io/Geoguard/ . Basemap OpenStreetMap contributors; navigation only. NO2 result from archived authenticated Earth Engine exports.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section 4.3 and repository VALIDATION.md. All 30 full-environment local tests passed; lightweight CI may skip optional widget tests. Fresh authenticated Python queries and independent UAE accuracy are not established by these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plan, not achieved results. Full protocol: https://github.com/losth6wz/Geoguard/blob/main/VALIDATION.md . Need independent labels, event definitions and matching tolerances before scoring; false alarm targets require partner agreement. At least three real-user contacts support orientation bonus, page21, supplied AYSH orientation. No interview or benchmark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Report contribution headings and references. Zainab: supplied Geoguard.pdf; Raseel: Earth Engine mapping; Abdulaziz: AI screening and integration. Model terms: MARS-S2L CC BY-NC-SA 4.0; CloudSEN12 weights CC BY-NC 4.0; packages LGPLv3. Team-authored material has no blanket licence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GeoGuard report, sections 1–4, 7 October 2026. https://docs.google.com/document/d/1m8BmXCIb25mvpgSxf2ykUxtepey_wdF7z4WF1vljtgs/edit</a:t>
            </a:r>
          </a:p>
          <a:p xmlns:a="http://schemas.openxmlformats.org/drawingml/2006/main">
            <a:r>
              <a:t>Principal source: GeoGuard team report. Full terms and provider links: https://github.com/losth6wz/Geoguard/blob/main/THIRD_PARTY_NOTICES.md . Sentinel catalogs: https://developers.google.com/earth-engine/datasets/catalog/ . MARS-S2L: https://huggingface.co/datasets/UNEP-IMEO/MARS-S2L . CloudSEN12: https://huggingface.co/isp-uv-es/cloudsen12_models . Wind: https://gmao.gsfc.nasa.gov/gmao-products/ ; https://open-meteo.com/en/terms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519c31e0b745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240eb9458a4dc5" /><Relationship Type="http://schemas.openxmlformats.org/officeDocument/2006/relationships/slideLayout" Target="/ppt/slideLayouts/slideLayout1.xml" Id="R8d89c74faf0c45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89c74faf0c45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223b8186e4fc3" /><Relationship Type="http://schemas.openxmlformats.org/officeDocument/2006/relationships/notesSlide" Target="/ppt/notesSlides/notesSlide1.xml" Id="R0fc79d262ff445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5ccb1963043b2" /><Relationship Type="http://schemas.openxmlformats.org/officeDocument/2006/relationships/notesSlide" Target="/ppt/notesSlides/notesSlide2.xml" Id="Rc7625a43e82545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d574e4c3e4d61" /><Relationship Type="http://schemas.openxmlformats.org/officeDocument/2006/relationships/notesSlide" Target="/ppt/notesSlides/notesSlide3.xml" Id="Re2d2ebe6918c42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e432b203246b2" /><Relationship Type="http://schemas.openxmlformats.org/officeDocument/2006/relationships/notesSlide" Target="/ppt/notesSlides/notesSlide4.xml" Id="R2fc492bc6ff34f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a1618669b4098" /><Relationship Type="http://schemas.openxmlformats.org/officeDocument/2006/relationships/notesSlide" Target="/ppt/notesSlides/notesSlide5.xml" Id="R6990c519b03247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29a8a5660488d" /><Relationship Type="http://schemas.openxmlformats.org/officeDocument/2006/relationships/notesSlide" Target="/ppt/notesSlides/notesSlide6.xml" Id="R66f1986400f34f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ad76112214a19" /><Relationship Type="http://schemas.openxmlformats.org/officeDocument/2006/relationships/image" Target="/ppt/media/image.png" Id="R5befafd6b5214306" /><Relationship Type="http://schemas.openxmlformats.org/officeDocument/2006/relationships/notesSlide" Target="/ppt/notesSlides/notesSlide7.xml" Id="R2827e4bda6e242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d4aea87214b58" /><Relationship Type="http://schemas.openxmlformats.org/officeDocument/2006/relationships/notesSlide" Target="/ppt/notesSlides/notesSlide8.xml" Id="R57b5fbbdf8f441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f7a31491d4369" /><Relationship Type="http://schemas.openxmlformats.org/officeDocument/2006/relationships/image" Target="/ppt/media/image.jpeg" Id="Re1b366e8d25443df" /><Relationship Type="http://schemas.openxmlformats.org/officeDocument/2006/relationships/notesSlide" Target="/ppt/notesSlides/notesSlide9.xml" Id="R7fb491ee10c747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d8679c73d4a66" /><Relationship Type="http://schemas.openxmlformats.org/officeDocument/2006/relationships/notesSlide" Target="/ppt/notesSlides/notesSlide10.xml" Id="Ref1cd1fe920b4b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978131cde74496" /><Relationship Type="http://schemas.openxmlformats.org/officeDocument/2006/relationships/notesSlide" Target="/ppt/notesSlides/notesSlide11.xml" Id="R8e2366b2e8fb4e6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c72f2db3b430e" /><Relationship Type="http://schemas.openxmlformats.org/officeDocument/2006/relationships/notesSlide" Target="/ppt/notesSlides/notesSlide12.xml" Id="R566fcdb2c7d841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21c0b44d147af" /><Relationship Type="http://schemas.openxmlformats.org/officeDocument/2006/relationships/notesSlide" Target="/ppt/notesSlides/notesSlide13.xml" Id="R788e3abf1e7743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55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A6B1E-3818-46AA-BC49-11117112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GeoGuard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19512-17ED-49BA-86FA-D4630A63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0">
                <a:solidFill>
                  <a:srgbClr val="DCF78E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DCF78E"/>
                </a:solidFill>
                <a:latin typeface="Arial"/>
                <a:ea typeface="Arial"/>
                <a:cs typeface="Arial"/>
              </a:rPr>
              <a:t>Satellite Air Quality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E0771-C6B1-445D-90C3-8E8F0894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Dated atmospheric measurements and AI-assisted</a:t>
            </a:r>
          </a:p>
          <a:p xmlns:a="http://schemas.openxmlformats.org/drawingml/2006/main">
            <a:pPr>
              <a:buNone/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methane screening for environmental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965CD-C855-4360-885C-603A322F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 GeoGuard  ·  Theme: Air Quality Intelligence  ·  UAE pilot</a:t>
            </a:r>
          </a:p>
        </p:txBody>
      </p:sp>
    </p:spTree>
    <p:extLst>
      <p:ext uri="{BB962C8B-B14F-4D97-AF65-F5344CB8AC3E}">
        <p14:creationId xmlns:p14="http://schemas.microsoft.com/office/powerpoint/2010/main" val="18812949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B999A-9FB4-45C6-8F73-B9CA053C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Environmental investigation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F49DD-1662-4D12-B65C-6FFA1A48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3A3DE-FE57-4B38-8E56-68B55727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C7A21F-1389-4A5A-BE0E-753A5B7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64AF2-50F0-49E8-BC67-A42F1A90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Environmental monitoring</a:t>
            </a:r>
          </a:p>
          <a:p xmlns:a="http://schemas.openxmlformats.org/drawingml/2006/main">
            <a:pPr>
              <a:buNone/>
              <a:defRPr sz="27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enforcement teams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B15575-A7D1-4014-9969-FC904CBD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E117D-1389-4D2D-AE73-24E75D81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1725"/>
            <a:ext cx="5238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Where should we review</a:t>
            </a:r>
          </a:p>
          <a:p xmlns:a="http://schemas.openxmlformats.org/drawingml/2006/main">
            <a:pPr>
              <a:buNone/>
              <a:defRPr sz="262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satellite evidence and</a:t>
            </a:r>
          </a:p>
          <a:p xmlns:a="http://schemas.openxmlformats.org/drawingml/2006/main">
            <a:pPr>
              <a:buNone/>
              <a:defRPr sz="262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request field measurements?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49D0AB-F50F-4D8D-8DD8-58AF4282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Investigation scenario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806E2-5B44-4109-A0DD-B466277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 analyst reviews an area before requesting gas-specific field observations.</a:t>
            </a:r>
          </a:p>
          <a:p xmlns:a="http://schemas.openxmlformats.org/drawingml/2006/main">
            <a:pPr>
              <a:buNone/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Separate products and missing dates complicate that review; no user interview is claimed.</a:t>
            </a:r>
          </a:p>
        </p:txBody>
      </p:sp>
    </p:spTree>
    <p:extLst>
      <p:ext uri="{BB962C8B-B14F-4D97-AF65-F5344CB8AC3E}">
        <p14:creationId xmlns:p14="http://schemas.microsoft.com/office/powerpoint/2010/main" val="13495674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98C99-3141-4A09-BA9E-F806E61F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GeoGuard’s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9CE5C-688D-4971-8112-F57F68EB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63D63-C7EA-4D3F-B5A5-8F27F656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B664F-148F-4F5C-8422-5E9D9974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000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Existing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2C12F-71C3-44B2-A336-B334EF74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1911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Copernicus supplies satellite observations.</a:t>
            </a:r>
          </a:p>
          <a:p xmlns:a="http://schemas.openxmlformats.org/drawingml/2006/main">
            <a:pPr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UNEP IMEO supplies the pretrained detector.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These are the foundations we use.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6A8A2-5115-4C48-AECD-5203F78F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907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Our implemented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FE87D-9B21-4051-B331-064C59F9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543175"/>
            <a:ext cx="50958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Quantity changes retain units, dates and coverage.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Evidence remains tied to its recorded location.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 export carries the record into analyst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1C113-63D3-4582-986C-DC9F26B9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Proposed benefit: easier evidence assembly before field follow-up.</a:t>
            </a:r>
          </a:p>
          <a:p xmlns:a="http://schemas.openxmlformats.org/drawingml/2006/main">
            <a:pPr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Review time and better decisions still need measurement with intended users.</a:t>
            </a:r>
          </a:p>
        </p:txBody>
      </p:sp>
    </p:spTree>
    <p:extLst>
      <p:ext uri="{BB962C8B-B14F-4D97-AF65-F5344CB8AC3E}">
        <p14:creationId xmlns:p14="http://schemas.microsoft.com/office/powerpoint/2010/main" val="11927296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471C58-A8A8-4948-8B90-148C6D28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Measurements in the PoC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18D67-ED8E-44A6-9102-604B6D38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7FAAD-D397-4910-8134-4279B393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6762750"/>
                <a:gridCol w="2066925"/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Quantity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Sentinel-5P measurement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Display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NO₂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Tropospheric column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µmol/m²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CO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Total atmospheric column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mmol/m²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SO₂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Vertical column; assumed ground profile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µmol/m²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Regional CH₄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Bias-corrected dry-air column mixing ratio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ppb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9DD26-3155-482F-B8F8-74BF400D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Sentinel-2 imagery + MARS-S2L: candidate / no candidate / not assessable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B5588-D2C1-4738-B39D-58773E2F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PM, VOC and H₂S instruments are not connected. Columns are not surface exposure.</a:t>
            </a:r>
          </a:p>
        </p:txBody>
      </p:sp>
    </p:spTree>
    <p:extLst>
      <p:ext uri="{BB962C8B-B14F-4D97-AF65-F5344CB8AC3E}">
        <p14:creationId xmlns:p14="http://schemas.microsoft.com/office/powerpoint/2010/main" val="6576207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2BD2DB-BFDE-4DEA-8523-717345AF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Satellite evidence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B9797-A29B-4B5B-9116-B8F992BD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A342C-6DD8-4163-8471-1A0793ED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BEBC4-DC81-4174-A6DB-78FC8BB3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Atmospheric measurements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D6CF7-45CB-4BF9-B5DF-C4005403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Sentinel-5P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quality masks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8967A-E596-49CF-A18F-706FEDB8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667000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FC474-1C38-4350-B556-F800EA8C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Daily area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values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33C62-165F-47F1-AE1D-62EA0B05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67000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87306-18B5-4013-B78C-BFD0EEC8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Monthly / period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summaries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159BC-2C98-4A4B-AC9F-D9D67314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667000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D891A-D02D-4D5E-8E76-2B980EA2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24125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Dated JSON / CSV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display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05C33-739C-44BA-8A87-8E681354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Methane screening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E2AFDB-BA43-4371-98DA-EF5EBEF5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Observation +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reference imagery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43A45-9B29-439D-AF9F-CE9C6E64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772025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C02152-6F61-46FD-B0B3-0068F461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Cloud / valid mask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alignment + wind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08477-983C-408B-8904-14A36912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72025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0A4479-FBF8-4B74-9829-D0B595EB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Pretrained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MARS-S2L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A6A921-D1CF-4E9D-A2CC-7A845E19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772025"/>
            <a:ext cx="33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92F48E-B4E1-4F62-B504-4777FE2B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2915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Candidate flag +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evidence history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CE1AA-4D36-42BD-8442-078DB3E3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Different quantities and footprints remain separate. Missing observations stay unknown.</a:t>
            </a:r>
          </a:p>
        </p:txBody>
      </p:sp>
    </p:spTree>
    <p:extLst>
      <p:ext uri="{BB962C8B-B14F-4D97-AF65-F5344CB8AC3E}">
        <p14:creationId xmlns:p14="http://schemas.microsoft.com/office/powerpoint/2010/main" val="11771177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A9114-098C-4A52-BCA0-65C7159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UAE atmospheric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E6263-FC7B-40BF-BEBE-B13E5D49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CA7B3A-93CC-4725-9DE8-A3C530D3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FDCAA-0A3F-44CE-8828-CB298E94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Dubai and Jebel Ali · 5 km radius comparison circles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2288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3838575"/>
                <a:gridCol w="38481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Quantity / window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Dubai mean · usable days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Jebel Ali mean · usable days</a:t>
                      </a:r>
                    </a:p>
                  </a:txBody>
                  <a:tcPr marL="91440" marR="91440" marT="45720" marB="45720">
                    <a:solidFill>
                      <a:srgbClr val="0C554E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NO₂ · Jan–Aug 2026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207.85 µmol/m² · 226/243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206.67 µmol/m² · 224/243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CO · Aug–Sep 2026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36.33 mmol/m² · 52/61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37.70 mmol/m² · 60/61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SO₂ · Aug–Sep 2026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145.83 µmol/m² · 60/61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143.96 µmol/m² · 60/61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Regional CH₄ · Aug–Sep 2026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1966.93 ppb · 33/61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3D36"/>
                          </a:solidFill>
                          <a:latin typeface="Arial"/>
                          <a:ea typeface="Arial"/>
                          <a:cs typeface="Arial"/>
                        </a:rPr>
                        <a:t>1969.56 ppb · 37/61</a:t>
                      </a:r>
                    </a:p>
                  </a:txBody>
                  <a:tcPr marL="91440" marR="91440" marT="45720" marB="45720">
                    <a:solidFill>
                      <a:srgbClr val="E7EDE2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96D2B-C180-46F5-B114-552A20C8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Different valid days and retrieval uncertainty limit comparisons.</a:t>
            </a:r>
          </a:p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These means alone do not establish significance or identify an emission source.</a:t>
            </a:r>
          </a:p>
        </p:txBody>
      </p:sp>
    </p:spTree>
    <p:extLst>
      <p:ext uri="{BB962C8B-B14F-4D97-AF65-F5344CB8AC3E}">
        <p14:creationId xmlns:p14="http://schemas.microsoft.com/office/powerpoint/2010/main" val="16332298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7E088-C3B0-4956-873D-0AED0492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Dated methane screening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E3B0F-839F-4A94-84D5-4AD1A0E2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F7821-1A15-45F4-956A-79F5BD60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5918F-8FE0-49B9-B842-0D09F391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53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22 September 2026 observation · 9 September reference</a:t>
            </a:r>
          </a:p>
          <a:p xmlns:a="http://schemas.openxmlformats.org/drawingml/2006/main">
            <a:pPr>
              <a:buNone/>
              <a:defRPr sz="2025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23.86479° N, 53.61893° 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fafd6b5214306"/>
          <a:stretch xmlns:a="http://schemas.openxmlformats.org/drawingml/2006/main"/>
        </p:blipFill>
        <p:spPr>
          <a:xfrm xmlns:a="http://schemas.openxmlformats.org/drawingml/2006/main">
            <a:off x="609600" y="2571452"/>
            <a:ext cx="7858125" cy="284857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3F5F3-B4A2-4F15-AC91-9BACD4DD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14625"/>
            <a:ext cx="247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46E2D-E4A0-4C49-AB77-B7D5F12F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52825"/>
            <a:ext cx="2524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candidate pixels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B52AEF-0164-4EA2-9714-D701FB0C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81475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96.04%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C77C0-F35D-497D-8BA2-86068FAE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19650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usable coverage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BFFDC-A961-4B0E-BAA9-34A938AD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No candidate is not proof of zero methane. Coverage is not model accuracy.</a:t>
            </a:r>
          </a:p>
        </p:txBody>
      </p:sp>
    </p:spTree>
    <p:extLst>
      <p:ext uri="{BB962C8B-B14F-4D97-AF65-F5344CB8AC3E}">
        <p14:creationId xmlns:p14="http://schemas.microsoft.com/office/powerpoint/2010/main" val="2487040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B43ACC-D32B-4CD0-885D-F2A46CBB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Review an area in GeoGuard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60114-1ABE-4F64-BC68-D7E83D8E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D2F857-32BD-41B1-A6B8-84F27069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AC837-8819-40C6-B89B-A542D66C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D9A5C3-94FB-41C2-9E66-ABFDC2F6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809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Choose an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CB62FA-1CCD-4B82-92F7-469CC0C6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2955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Select Dubai and NO₂: inspect the measured column and usable days.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EC2B9-9430-4547-BF27-8302B17F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1F5FA-8CF9-4E1F-B08B-833CF626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384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Read the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56E19-31DA-48B4-9CC6-CDB991BC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242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Compare Jebel Ali and monthly history; the mean difference is inconclusive.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8217C-6E8E-4C4E-B8C5-4B196681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6ECE5-0D9C-4134-9E53-E698465D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867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Inspect methane candidates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3F3D8-D263-4CCA-831D-F0459905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3529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Select the separate methane example; 0 candidates does not prove zero methane.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44B693-C565-45B1-81D3-9446BA62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AD0E9-8C54-48EA-9C74-76898994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8958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Export and follow 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56C2A-1B70-4F80-B831-89B8A368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3816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Download current evidence; review it before gas-specific field follow-up.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CC210-A9CE-4067-B188-AEE3DBE8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Bundled NO₂ has area/history results; CO, SO₂ and regional CH₄ include archived map layers.</a:t>
            </a:r>
          </a:p>
        </p:txBody>
      </p:sp>
    </p:spTree>
    <p:extLst>
      <p:ext uri="{BB962C8B-B14F-4D97-AF65-F5344CB8AC3E}">
        <p14:creationId xmlns:p14="http://schemas.microsoft.com/office/powerpoint/2010/main" val="16490698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8F1A3-1468-4515-8135-F75E0C15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Actual area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B28E4-49FB-4AF1-A3D5-9BDDB5B2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0BB5C-5F90-4488-80EA-2FBC6BD8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366e8d25443df"/>
          <a:stretch xmlns:a="http://schemas.openxmlformats.org/drawingml/2006/main"/>
        </p:blipFill>
        <p:spPr>
          <a:xfrm xmlns:a="http://schemas.openxmlformats.org/drawingml/2006/main">
            <a:off x="883660" y="1685925"/>
            <a:ext cx="6405130" cy="4333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DA33E-7004-40C1-BE1A-AFA0F0D2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1857375"/>
            <a:ext cx="3486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Dubai · NO₂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B99CE-AC46-4A4E-BCF1-0FCF163A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24125"/>
            <a:ext cx="3476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207.85 µmol/m²</a:t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226 / 243 usable days</a:t>
            </a:r>
          </a:p>
          <a:p xmlns:a="http://schemas.openxmlformats.org/drawingml/2006/main">
            <a:pPr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January–August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0F22E-E128-4F84-BA8B-B237FEB2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191000"/>
            <a:ext cx="34766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 methane record belongs</a:t>
            </a:r>
          </a:p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to another selected location.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 analyst receives dated</a:t>
            </a:r>
          </a:p>
          <a:p xmlns:a="http://schemas.openxmlformats.org/drawingml/2006/main">
            <a:pPr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evidence, not a source verdict.</a:t>
            </a:r>
          </a:p>
        </p:txBody>
      </p:sp>
    </p:spTree>
    <p:extLst>
      <p:ext uri="{BB962C8B-B14F-4D97-AF65-F5344CB8AC3E}">
        <p14:creationId xmlns:p14="http://schemas.microsoft.com/office/powerpoint/2010/main" val="10740484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20E2A-3350-4105-966E-773BC6EC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Reproducibility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6DA17-7753-4F49-B07F-1CB3771D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2F6BE0-C900-4F20-95E6-38278730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C5850-F949-40DB-8EC1-60A5E224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Reproducible data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0921D-CB87-402C-B23E-6A8F0CBD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The pinned PoC recalculates archived atmospheric inputs and replays methane evidence.</a:t>
            </a:r>
          </a:p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Daily, monthly and period summaries match the exported observations.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522B0C-05A1-456F-AEDD-D4212DCE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30 software tests passed on 7 October 2026; outputs are available for review.</a:t>
            </a:r>
          </a:p>
          <a:p xmlns:a="http://schemas.openxmlformats.org/drawingml/2006/main">
            <a:pPr>
              <a:buNone/>
              <a:defRPr sz="22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Reviewed methane-positive/negative cases and false-alarm performance are not established.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242EB-C710-4674-BCA3-B6913D40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Software verification does not establish independent UAE detection accuracy.</a:t>
            </a:r>
          </a:p>
        </p:txBody>
      </p:sp>
    </p:spTree>
    <p:extLst>
      <p:ext uri="{BB962C8B-B14F-4D97-AF65-F5344CB8AC3E}">
        <p14:creationId xmlns:p14="http://schemas.microsoft.com/office/powerpoint/2010/main" val="3918573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40963-52AB-42D5-9BB6-8167894B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Proposed validation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4353A-5732-4E62-8552-93175C18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20556-D136-49FF-8883-0D60F015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3C40C-1C58-4860-971E-E6F299D0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Scientific evaluation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8A415-831F-4902-A395-E34B1226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2197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One willing monitoring partner, one area;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four weeks after data access is arranged.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Review plume / no-plume and confounder cases.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Freeze thresholds; hold out dates and locations.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Report event counts, precision/recall and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unknown cases where labels support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E7FB8-B268-41BA-B99F-D8CEC407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90700"/>
            <a:ext cx="5095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User evaluation and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D9B87-B6CE-48B8-920E-C2F5B5EE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509587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Three intended users compare review/export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with their existing workflow. Record time,</a:t>
            </a:r>
          </a:p>
          <a:p xmlns:a="http://schemas.openxmlformats.org/drawingml/2006/main">
            <a:pPr>
              <a:defRPr sz="2025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03D36"/>
                </a:solidFill>
                <a:latin typeface="Arial"/>
                <a:ea typeface="Arial"/>
                <a:cs typeface="Arial"/>
              </a:rPr>
              <a:t>completion and interpretation errors.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Agree accuracy/false-alarm targets first.</a:t>
            </a:r>
          </a:p>
          <a:p xmlns:a="http://schemas.openxmlformats.org/drawingml/2006/main">
            <a:pPr>
              <a:defRPr sz="2025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03D36"/>
                </a:solidFill>
                <a:latin typeface="Arial"/>
                <a:ea typeface="Arial"/>
                <a:cs typeface="Arial"/>
              </a:rPr>
              <a:t>Advance only if targets are met and all three</a:t>
            </a:r>
          </a:p>
          <a:p xmlns:a="http://schemas.openxmlformats.org/drawingml/2006/main">
            <a:pPr>
              <a:buNone/>
              <a:defRPr sz="202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users interpret dates, units and unknowns.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A1E05-451A-4E3E-8AEF-6503EE33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Planned: no partner commitment or user feedback yet. Sparse imagery may extend collection.</a:t>
            </a:r>
          </a:p>
        </p:txBody>
      </p:sp>
    </p:spTree>
    <p:extLst>
      <p:ext uri="{BB962C8B-B14F-4D97-AF65-F5344CB8AC3E}">
        <p14:creationId xmlns:p14="http://schemas.microsoft.com/office/powerpoint/2010/main" val="4246796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9344B-D47B-45C3-96D9-79DC2476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Team and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73FE0-6703-448A-943C-430371C7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1942B-C05C-41CB-BBBB-EA73F97D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8259A-9C54-4E8C-A38E-3693518F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Zainab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B1F19-6D03-4397-B91A-B199AC05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Pollutants, sources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sensing methods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D1ABC-F2A5-479E-BAEA-4C1708D6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33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Raseel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F972B0-D21A-4B5F-A0B6-316AC851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Earth Engine mapping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comparison areas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8DC95-BD76-467E-9E61-04294744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33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Abdulaziz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D27D3F-83AE-4E4B-B069-4FA43DEB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7175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AI methane screening</a:t>
            </a:r>
          </a:p>
          <a:p xmlns:a="http://schemas.openxmlformats.org/drawingml/2006/main">
            <a:pPr>
              <a:buNone/>
              <a:defRPr sz="210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and project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310D5-2FC6-42CF-8B4F-BC47070B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D7CEA-EEE0-45E2-B1CB-6B52B4C2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0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BEEF5-605C-4E1B-B57F-F294F9D6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3716A"/>
                </a:solidFill>
                <a:latin typeface="Arial"/>
                <a:ea typeface="Arial"/>
                <a:cs typeface="Arial"/>
              </a:rPr>
              <a:t>Demo and reproducible PoC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B7D17E-EE60-462F-B018-43ADDF6E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C554E"/>
                </a:solidFill>
                <a:latin typeface="Arial"/>
                <a:ea typeface="Arial"/>
                <a:cs typeface="Arial"/>
              </a:rPr>
              <a:t>losth6wz.github.io/Geoguard/  ·  github.com/losth6wz/Geoguard</a:t>
            </a:r>
          </a:p>
        </p:txBody>
      </p:sp>
    </p:spTree>
    <p:extLst>
      <p:ext uri="{BB962C8B-B14F-4D97-AF65-F5344CB8AC3E}">
        <p14:creationId xmlns:p14="http://schemas.microsoft.com/office/powerpoint/2010/main" val="5930545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6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B98C8-04B2-4059-BA15-4A023D60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3D36"/>
                </a:solidFill>
                <a:latin typeface="Arial"/>
                <a:ea typeface="Arial"/>
                <a:cs typeface="Arial"/>
              </a:rPr>
              <a:t>Data and model attribution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133BB-EE80-4C1A-8E45-F7CFFA3E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554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990B-CFF0-4AB8-B454-4D8395DF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51337-499C-42D2-9480-A7B2A4A5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Copernicus Sentinel-5P / Sentinel-2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044DB-CBB8-4735-AD50-05EE5AB2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2026 satellite observations; Earth Engine and public imagery archives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B0776-CC33-4909-99D8-0380FD85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UNEP IMEO MARS-S2L + CloudSEN12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2B77F-6861-4D57-A005-122E4753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0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Pretrained models; MARS-S2L CC BY-NC-SA 4.0, CloudSEN12 weights CC BY-NC 4.0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44197-4E3A-4CEC-9A6F-C79D892D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C55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554E"/>
                </a:solidFill>
                <a:latin typeface="Arial"/>
                <a:ea typeface="Arial"/>
                <a:cs typeface="Arial"/>
              </a:rPr>
              <a:t>NASA GEOS-FP / recorded GFS fallback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98CBE-AACF-4814-9494-2BCCE874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03D3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3D36"/>
                </a:solidFill>
                <a:latin typeface="Arial"/>
                <a:ea typeface="Arial"/>
                <a:cs typeface="Arial"/>
              </a:rPr>
              <a:t>Modeled wind matched to acquisition time; source and fallback recorded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B00D37-DDD2-4D9D-97FC-AA031B24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0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3716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716A"/>
                </a:solidFill>
                <a:latin typeface="Arial"/>
                <a:ea typeface="Arial"/>
                <a:cs typeface="Arial"/>
              </a:rPr>
              <a:t>Full references and applicable terms: THIRD_PARTY_NOTICES.md in the repository</a:t>
            </a:r>
          </a:p>
        </p:txBody>
      </p:sp>
    </p:spTree>
    <p:extLst>
      <p:ext uri="{BB962C8B-B14F-4D97-AF65-F5344CB8AC3E}">
        <p14:creationId xmlns:p14="http://schemas.microsoft.com/office/powerpoint/2010/main" val="17057786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2026-10-08T22:26:17.1950000Z</dcterms:created>
  <dcterms:modified xsi:type="dcterms:W3CDTF">2026-10-08T22:26:17.1950000Z</dcterms:modified>
</coreProperties>
</file>
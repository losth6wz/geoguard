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df69fe84934b6a" /><Relationship Type="http://schemas.openxmlformats.org/officeDocument/2006/relationships/extended-properties" Target="/docProps/app.xml" Id="R52ed3dfc55834339" /><Relationship Type="http://schemas.openxmlformats.org/officeDocument/2006/relationships/officeDocument" Target="/ppt/presentation.xml" Id="Re3377c968cf149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753d3cbd3b4160"/>
  </p:sldMasterIdLst>
  <p:notesMasterIdLst>
    <p:notesMasterId xmlns:r="http://schemas.openxmlformats.org/officeDocument/2006/relationships" r:id="R8aa82f9e74a14696"/>
  </p:notesMasterIdLst>
  <p:sldIdLst>
    <p:sldId xmlns:r="http://schemas.openxmlformats.org/officeDocument/2006/relationships" id="256" r:id="R3d62b40e5427459b"/>
    <p:sldId xmlns:r="http://schemas.openxmlformats.org/officeDocument/2006/relationships" id="257" r:id="R95fad0d398a84dee"/>
    <p:sldId xmlns:r="http://schemas.openxmlformats.org/officeDocument/2006/relationships" id="258" r:id="R01be252ab9074992"/>
    <p:sldId xmlns:r="http://schemas.openxmlformats.org/officeDocument/2006/relationships" id="259" r:id="Rda825094e9294128"/>
    <p:sldId xmlns:r="http://schemas.openxmlformats.org/officeDocument/2006/relationships" id="260" r:id="Re94d39905815428a"/>
    <p:sldId xmlns:r="http://schemas.openxmlformats.org/officeDocument/2006/relationships" id="261" r:id="R9b9bebaff3834896"/>
    <p:sldId xmlns:r="http://schemas.openxmlformats.org/officeDocument/2006/relationships" id="262" r:id="R8d52800434a34079"/>
    <p:sldId xmlns:r="http://schemas.openxmlformats.org/officeDocument/2006/relationships" id="263" r:id="R835c13802a064267"/>
    <p:sldId xmlns:r="http://schemas.openxmlformats.org/officeDocument/2006/relationships" id="264" r:id="R79926f1bf45f435d"/>
    <p:sldId xmlns:r="http://schemas.openxmlformats.org/officeDocument/2006/relationships" id="265" r:id="Re7fd04ecfc734bb2"/>
    <p:sldId xmlns:r="http://schemas.openxmlformats.org/officeDocument/2006/relationships" id="266" r:id="R414d5e84c67b4133"/>
    <p:sldId xmlns:r="http://schemas.openxmlformats.org/officeDocument/2006/relationships" id="267" r:id="R21b2fcb3490c41fc"/>
    <p:sldId xmlns:r="http://schemas.openxmlformats.org/officeDocument/2006/relationships" id="268" r:id="R81e007cfdf0d41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2990c3171f4da1" /><Relationship Type="http://schemas.openxmlformats.org/officeDocument/2006/relationships/slideMaster" Target="/ppt/slideMasters/slideMaster1.xml" Id="R59753d3cbd3b4160" /><Relationship Type="http://schemas.openxmlformats.org/officeDocument/2006/relationships/notesMaster" Target="/ppt/notesMasters/notesMaster1.xml" Id="R8aa82f9e74a14696" /><Relationship Type="http://schemas.openxmlformats.org/officeDocument/2006/relationships/presProps" Target="/ppt/presProps.xml" Id="Rd4ab88094b234937" /><Relationship Type="http://schemas.openxmlformats.org/officeDocument/2006/relationships/tableStyles" Target="/ppt/tableStyles.xml" Id="Re1a4de32e3fb4acd" /><Relationship Type="http://schemas.openxmlformats.org/officeDocument/2006/relationships/slide" Target="/ppt/slides/slide1.xml" Id="R3d62b40e5427459b" /><Relationship Type="http://schemas.openxmlformats.org/officeDocument/2006/relationships/slide" Target="/ppt/slides/slide2.xml" Id="R95fad0d398a84dee" /><Relationship Type="http://schemas.openxmlformats.org/officeDocument/2006/relationships/slide" Target="/ppt/slides/slide3.xml" Id="R01be252ab9074992" /><Relationship Type="http://schemas.openxmlformats.org/officeDocument/2006/relationships/slide" Target="/ppt/slides/slide4.xml" Id="Rda825094e9294128" /><Relationship Type="http://schemas.openxmlformats.org/officeDocument/2006/relationships/slide" Target="/ppt/slides/slide5.xml" Id="Re94d39905815428a" /><Relationship Type="http://schemas.openxmlformats.org/officeDocument/2006/relationships/slide" Target="/ppt/slides/slide6.xml" Id="R9b9bebaff3834896" /><Relationship Type="http://schemas.openxmlformats.org/officeDocument/2006/relationships/slide" Target="/ppt/slides/slide7.xml" Id="R8d52800434a34079" /><Relationship Type="http://schemas.openxmlformats.org/officeDocument/2006/relationships/slide" Target="/ppt/slides/slide8.xml" Id="R835c13802a064267" /><Relationship Type="http://schemas.openxmlformats.org/officeDocument/2006/relationships/slide" Target="/ppt/slides/slide9.xml" Id="R79926f1bf45f435d" /><Relationship Type="http://schemas.openxmlformats.org/officeDocument/2006/relationships/slide" Target="/ppt/slides/slide10.xml" Id="Re7fd04ecfc734bb2" /><Relationship Type="http://schemas.openxmlformats.org/officeDocument/2006/relationships/slide" Target="/ppt/slides/slide11.xml" Id="R414d5e84c67b4133" /><Relationship Type="http://schemas.openxmlformats.org/officeDocument/2006/relationships/slide" Target="/ppt/slides/slide12.xml" Id="R21b2fcb3490c41fc" /><Relationship Type="http://schemas.openxmlformats.org/officeDocument/2006/relationships/slide" Target="/ppt/slides/slide13.xml" Id="R81e007cfdf0d41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2b7e8327d64b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e8c65933174a97" /><Relationship Type="http://schemas.openxmlformats.org/officeDocument/2006/relationships/notesMaster" Target="/ppt/notesMasters/notesMaster1.xml" Id="R6a16c37f6fa64a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4ba26d7e5f742bd" /><Relationship Type="http://schemas.openxmlformats.org/officeDocument/2006/relationships/notesMaster" Target="/ppt/notesMasters/notesMaster1.xml" Id="R2e465d3f46a4413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054e6ff0ae4563" /><Relationship Type="http://schemas.openxmlformats.org/officeDocument/2006/relationships/notesMaster" Target="/ppt/notesMasters/notesMaster1.xml" Id="R9bce5258146746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0e9335ed9f4910" /><Relationship Type="http://schemas.openxmlformats.org/officeDocument/2006/relationships/notesMaster" Target="/ppt/notesMasters/notesMaster1.xml" Id="R9e760f83296449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2feb7f7656647c9" /><Relationship Type="http://schemas.openxmlformats.org/officeDocument/2006/relationships/notesMaster" Target="/ppt/notesMasters/notesMaster1.xml" Id="Rda29f47dbcc243c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88a90aa2c94e21" /><Relationship Type="http://schemas.openxmlformats.org/officeDocument/2006/relationships/notesMaster" Target="/ppt/notesMasters/notesMaster1.xml" Id="R5422bb8452254b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b8b2f2de7940c6" /><Relationship Type="http://schemas.openxmlformats.org/officeDocument/2006/relationships/notesMaster" Target="/ppt/notesMasters/notesMaster1.xml" Id="Ra65c98266bd44b3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30821fbc4ff4418" /><Relationship Type="http://schemas.openxmlformats.org/officeDocument/2006/relationships/notesMaster" Target="/ppt/notesMasters/notesMaster1.xml" Id="R4044ac21f253468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e72a04d03341ba" /><Relationship Type="http://schemas.openxmlformats.org/officeDocument/2006/relationships/notesMaster" Target="/ppt/notesMasters/notesMaster1.xml" Id="R6caae5c3fab44ec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e91452a8524be6" /><Relationship Type="http://schemas.openxmlformats.org/officeDocument/2006/relationships/notesMaster" Target="/ppt/notesMasters/notesMaster1.xml" Id="R173b7504d2dc413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526c3868714c50" /><Relationship Type="http://schemas.openxmlformats.org/officeDocument/2006/relationships/notesMaster" Target="/ppt/notesMasters/notesMaster1.xml" Id="R794065e420694f3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2c9d769e6644425" /><Relationship Type="http://schemas.openxmlformats.org/officeDocument/2006/relationships/notesMaster" Target="/ppt/notesMasters/notesMaster1.xml" Id="R2f759b3e958744d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cfe8ebeef1b4693" /><Relationship Type="http://schemas.openxmlformats.org/officeDocument/2006/relationships/notesMaster" Target="/ppt/notesMasters/notesMaster1.xml" Id="Rbe76bd3643604e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Research PoC. No source attribution, safety verdict or validated UAE forecast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Team-authored workflow demonstrated in repository and website, 9 October 2026. https://github.com/losth6wz/Geoguard . Proposed benefit; user research and time savings have not been measured. Copernicus observations and unchanged UNEP IMEO MARS-S2L are upstream contributions.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Report section 1.5 and section 2. Four separate quantities; no combined pollution score. Sentinel-5P catalogs: https://developers.google.com/earth-engine/datasets/catalog/COPERNICUS_S5P_NRTI_L3_NO2 ; corresponding CO, SO2 and OFFL CH4 catalogs.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Report sections 2.2–2.4 and 3.1–3.3. Methane screening uses an approximately 2 × 2 km crop, up to three reference candidates and acquisition-time modeled wind.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Report sections 2.3 and 4.2. Actual Earth Engine exports: NO₂ 4 October; CO/SO₂/CH₄ 7 October 2026. Equal weighting of usable daily area means. Raw source exports and exact precision available in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Report sections 3.1–3.3 and 4.2. Image: GeoGuard derived output, Copernicus Sentinel-2 data (2026), pretrained UNEP IMEO MARS-S2L. https://huggingface.co/datasets/UNEP-IMEO/MARS-S2L ; https://github.com/UNEP-IMEO-MARS/marss2l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Report sections 2.4, 3.5 and 4.4. Public demo: https://losth6wz.github.io/Geoguard/ ; fresh queries use the interactive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actual GeoGuard browser interface on 9 October 2026, locally verified revision of https://losth6wz.github.io/Geoguard/ . Basemap OpenStreetMap contributors; navigation only. NO2 result from archived authenticated Earth Engine exports.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Report section 4.3 and repository VALIDATION.md. All 30 full-environment local tests passed; lightweight CI may skip optional widget tests. Fresh authenticated Python queries and independent UAE accuracy are not established by these checks.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plan, not achieved results. Full protocol: https://github.com/losth6wz/Geoguard/blob/main/VALIDATION.md . Need independent labels, event definitions and matching tolerances before scoring; false alarm targets require partner agreement. At least three real-user contacts support orientation bonus, page21, supplied AYSH orientation. No interview or benchmark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Report contribution headings and references. Zainab: supplied Geoguard.pdf; Raseel: Earth Engine mapping; Abdulaziz: AI screening and integration. Model terms: MARS-S2L CC BY-NC-SA 4.0; CloudSEN12 weights CC BY-NC 4.0; packages LGPLv3. Team-authored material has no blanket licence asserted.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Principal source: GeoGuard team report. Full terms and provider links: https://github.com/losth6wz/Geoguard/blob/main/THIRD_PARTY_NOTICES.md . Sentinel catalogs: https://developers.google.com/earth-engine/datasets/catalog/ . MARS-S2L: https://huggingface.co/datasets/UNEP-IMEO/MARS-S2L . CloudSEN12: https://huggingface.co/isp-uv-es/cloudsen12_models . Wind: https://gmao.gsfc.nasa.gov/gmao-products/ ; https://open-meteo.com/en/terms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0e1b62af3549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416cc559a44754" /><Relationship Type="http://schemas.openxmlformats.org/officeDocument/2006/relationships/slideLayout" Target="/ppt/slideLayouts/slideLayout1.xml" Id="R01131c271cc243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131c271cc243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116a14c0f64a9d" /><Relationship Type="http://schemas.openxmlformats.org/officeDocument/2006/relationships/notesSlide" Target="/ppt/notesSlides/notesSlide1.xml" Id="Rf052739aa3194b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2b3801e524d4a" /><Relationship Type="http://schemas.openxmlformats.org/officeDocument/2006/relationships/notesSlide" Target="/ppt/notesSlides/notesSlide2.xml" Id="Rac82db5b83cb47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095719ed2a46ae" /><Relationship Type="http://schemas.openxmlformats.org/officeDocument/2006/relationships/notesSlide" Target="/ppt/notesSlides/notesSlide3.xml" Id="R32de7611944347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ded44915034f5f" /><Relationship Type="http://schemas.openxmlformats.org/officeDocument/2006/relationships/notesSlide" Target="/ppt/notesSlides/notesSlide4.xml" Id="R5ad49da6e0804f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ce01fa47f7488d" /><Relationship Type="http://schemas.openxmlformats.org/officeDocument/2006/relationships/notesSlide" Target="/ppt/notesSlides/notesSlide5.xml" Id="R01ce7aa999f74e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79dee597674ce5" /><Relationship Type="http://schemas.openxmlformats.org/officeDocument/2006/relationships/notesSlide" Target="/ppt/notesSlides/notesSlide6.xml" Id="R6058bf43eeb54d3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6e1b2db0e741c0" /><Relationship Type="http://schemas.openxmlformats.org/officeDocument/2006/relationships/image" Target="/ppt/media/image.png" Id="R04c2459abb234318" /><Relationship Type="http://schemas.openxmlformats.org/officeDocument/2006/relationships/notesSlide" Target="/ppt/notesSlides/notesSlide7.xml" Id="R8e5c30dd57d446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4813524a5c4c41" /><Relationship Type="http://schemas.openxmlformats.org/officeDocument/2006/relationships/notesSlide" Target="/ppt/notesSlides/notesSlide8.xml" Id="Rb2c1589b0d334b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0bf1f6428a48f5" /><Relationship Type="http://schemas.openxmlformats.org/officeDocument/2006/relationships/image" Target="/ppt/media/image.jpeg" Id="Ra8013aadfb314f53" /><Relationship Type="http://schemas.openxmlformats.org/officeDocument/2006/relationships/notesSlide" Target="/ppt/notesSlides/notesSlide9.xml" Id="R5a247697db1a419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250f2e8804cc1" /><Relationship Type="http://schemas.openxmlformats.org/officeDocument/2006/relationships/notesSlide" Target="/ppt/notesSlides/notesSlide10.xml" Id="Rdb5cf1d835ac4e8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39d713fb764838" /><Relationship Type="http://schemas.openxmlformats.org/officeDocument/2006/relationships/notesSlide" Target="/ppt/notesSlides/notesSlide11.xml" Id="R05aa73d2906c4b5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c29fcbbbf445d8" /><Relationship Type="http://schemas.openxmlformats.org/officeDocument/2006/relationships/notesSlide" Target="/ppt/notesSlides/notesSlide12.xml" Id="R4bec9b35fc5a49d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0c59190374851" /><Relationship Type="http://schemas.openxmlformats.org/officeDocument/2006/relationships/notesSlide" Target="/ppt/notesSlides/notesSlide13.xml" Id="R13ef4f80ee5348c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554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0A6B1E-3818-46AA-BC49-11117112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76375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GeoGuard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219512-17ED-49BA-86FA-D4630A63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1038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0">
                <a:solidFill>
                  <a:srgbClr val="DCF78E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CF78E"/>
                </a:solidFill>
                <a:latin typeface="Arial"/>
                <a:ea typeface="Arial"/>
                <a:cs typeface="Arial"/>
              </a:rPr>
              <a:t>Satellite Air Quality Intelligence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E0771-C6B1-445D-90C3-8E8F0894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1028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Dated atmospheric measurements and AI-assisted</a:t>
            </a:r>
          </a:p>
          <a:p xmlns:a="http://schemas.openxmlformats.org/drawingml/2006/main">
            <a:pPr>
              <a:buNone/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methane screening for environmental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7965CD-C855-4360-885C-603A322F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Team GeoGuard  ·  Theme: Air Quality Intelligence  ·  UAE pilot</a:t>
            </a:r>
          </a:p>
        </p:txBody>
      </p:sp>
    </p:spTree>
    <p:extLst>
      <p:ext uri="{BB962C8B-B14F-4D97-AF65-F5344CB8AC3E}">
        <p14:creationId xmlns:p14="http://schemas.microsoft.com/office/powerpoint/2010/main" val="18812949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EB999A-9FB4-45C6-8F73-B9CA053C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Environmental investigation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CF49DD-1662-4D12-B65C-6FFA1A48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3A3DE-FE57-4B38-8E56-68B55727D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C7A21F-1389-4A5A-BE0E-753A5B7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3716A"/>
                </a:solidFill>
                <a:latin typeface="Arial"/>
                <a:ea typeface="Arial"/>
                <a:cs typeface="Arial"/>
              </a:rPr>
              <a:t>User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264AF2-50F0-49E8-BC67-A42F1A90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504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Environmental monitoring</a:t>
            </a:r>
          </a:p>
          <a:p xmlns:a="http://schemas.openxmlformats.org/drawingml/2006/main">
            <a:pPr>
              <a:buNone/>
              <a:defRPr sz="277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and enforcement teams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B15575-A7D1-4014-9969-FC904CBD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428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3716A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BE117D-1389-4D2D-AE73-24E75D81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1725"/>
            <a:ext cx="5238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Where should we review</a:t>
            </a:r>
          </a:p>
          <a:p xmlns:a="http://schemas.openxmlformats.org/drawingml/2006/main">
            <a:pPr>
              <a:buNone/>
              <a:defRPr sz="262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satellite evidence and</a:t>
            </a:r>
          </a:p>
          <a:p xmlns:a="http://schemas.openxmlformats.org/drawingml/2006/main">
            <a:pPr>
              <a:buNone/>
              <a:defRPr sz="262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request field measurements?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49D0AB-F50F-4D8D-8DD8-58AF4282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3716A"/>
                </a:solidFill>
                <a:latin typeface="Arial"/>
                <a:ea typeface="Arial"/>
                <a:cs typeface="Arial"/>
              </a:rPr>
              <a:t>Investigation scenario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806E2-5B44-4109-A0DD-B466277E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An analyst reviews an area before requesting gas-specific field observations.</a:t>
            </a:r>
          </a:p>
          <a:p xmlns:a="http://schemas.openxmlformats.org/drawingml/2006/main">
            <a:pPr>
              <a:buNone/>
              <a:defRPr sz="21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Separate products and missing dates complicate that review; no user interview is claimed.</a:t>
            </a:r>
          </a:p>
        </p:txBody>
      </p:sp>
    </p:spTree>
    <p:extLst>
      <p:ext uri="{BB962C8B-B14F-4D97-AF65-F5344CB8AC3E}">
        <p14:creationId xmlns:p14="http://schemas.microsoft.com/office/powerpoint/2010/main" val="13495674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06C940-DD0D-4ACF-8723-E8449993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GeoGuard’s contribution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AC330C-6C7F-4CDD-AFB8-B03E58F6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285734-D2FD-492F-A607-58F340E3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B3B77-5E1D-4204-8D4E-27DEA9E0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000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Existing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EA754-9C5A-468D-800A-D28E1BA5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Copernicus supplies satellite observations.</a:t>
            </a:r>
          </a:p>
          <a:p xmlns:a="http://schemas.openxmlformats.org/drawingml/2006/main">
            <a:pPr>
              <a:defRPr sz="21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UNEP IMEO supplies the pretrained detector.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These are the foundations we use.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169F1-4D32-44CD-83D3-992535DA1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90700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Our implemented 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820E75-07D2-4CE4-9067-183B56A4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543175"/>
            <a:ext cx="50958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Quantity changes retain units, dates and coverage.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Evidence remains tied to its recorded location.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An export carries the record into analyst review.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AF1D14-4179-4CAE-A90F-BEC2DAE8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Proposed benefit: easier evidence assembly before field follow-up.</a:t>
            </a:r>
          </a:p>
          <a:p xmlns:a="http://schemas.openxmlformats.org/drawingml/2006/main">
            <a:pPr>
              <a:defRPr sz="2025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Review time and better decisions still need measurement with intended users.</a:t>
            </a:r>
          </a:p>
        </p:txBody>
      </p:sp>
    </p:spTree>
    <p:extLst>
      <p:ext uri="{BB962C8B-B14F-4D97-AF65-F5344CB8AC3E}">
        <p14:creationId xmlns:p14="http://schemas.microsoft.com/office/powerpoint/2010/main" val="9935105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471C58-A8A8-4948-8B90-148C6D28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Measurements in the PoC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318D67-ED8E-44A6-9102-604B6D38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27FAAD-D397-4910-8134-4279B393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6762750"/>
                <a:gridCol w="2066925"/>
              </a:tblGrid>
              <a:tr h="6286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Quantity</a:t>
                      </a:r>
                    </a:p>
                  </a:txBody>
                  <a:tcPr marL="91440" marR="91440" marT="45720" marB="45720">
                    <a:solidFill>
                      <a:srgbClr val="0C55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Sentinel-5P measurement</a:t>
                      </a:r>
                    </a:p>
                  </a:txBody>
                  <a:tcPr marL="91440" marR="91440" marT="45720" marB="45720">
                    <a:solidFill>
                      <a:srgbClr val="0C55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Display</a:t>
                      </a:r>
                    </a:p>
                  </a:txBody>
                  <a:tcPr marL="91440" marR="91440" marT="45720" marB="45720">
                    <a:solidFill>
                      <a:srgbClr val="0C554E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NO₂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Tropospheric column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µmol/m²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CO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Total atmospheric column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mmol/m²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SO₂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Vertical column; assumed ground profile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µmol/m²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Regional CH₄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Bias-corrected dry-air column mixing ratio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ppb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39DD26-3155-482F-B8F8-74BF400D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Sentinel-2 imagery + MARS-S2L: candidate / no candidate / not assessable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1B5588-D2C1-4738-B39D-58773E2F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PM, VOC and H₂S instruments are not connected. Columns are not surface exposure.</a:t>
            </a:r>
          </a:p>
        </p:txBody>
      </p:sp>
    </p:spTree>
    <p:extLst>
      <p:ext uri="{BB962C8B-B14F-4D97-AF65-F5344CB8AC3E}">
        <p14:creationId xmlns:p14="http://schemas.microsoft.com/office/powerpoint/2010/main" val="6576207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2BD2DB-BFDE-4DEA-8523-717345AF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Satellite evidence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B9797-A29B-4B5B-9116-B8F992BD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A342C-6DD8-4163-8471-1A0793ED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BBEBC4-DC81-4174-A6DB-78FC8BB3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Atmospheric measurements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8D6CF7-45CB-4BF9-B5DF-C4005403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Sentinel-5P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quality masks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68967A-E596-49CF-A18F-706FEDB8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667000"/>
            <a:ext cx="333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FFC474-1C38-4350-B556-F800EA8C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24125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Daily area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values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933C62-165F-47F1-AE1D-62EA0B05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67000"/>
            <a:ext cx="333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87306-18B5-4013-B78C-BFD0EEC8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24125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Monthly / period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summaries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B159BC-2C98-4A4B-AC9F-D9D67314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667000"/>
            <a:ext cx="333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6D891A-D02D-4D5E-8E76-2B980EA2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24125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Dated JSON / CSV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and display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05C33-739C-44BA-8A87-8E681354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Methane screening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E2AFDB-BA43-4371-98DA-EF5EBEF5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Observation +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reference imagery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C43A45-9B29-439D-AF9F-CE9C6E64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772025"/>
            <a:ext cx="333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C02152-6F61-46FD-B0B3-0068F461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629150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Cloud / valid mask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alignment + wind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608477-983C-408B-8904-14A36912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772025"/>
            <a:ext cx="333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0A4479-FBF8-4B74-9829-D0B595EB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29150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Pretrained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MARS-S2L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A6A921-D1CF-4E9D-A2CC-7A845E19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772025"/>
            <a:ext cx="333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92F48E-B4E1-4F62-B504-4777FE2B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629150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Candidate flag +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evidence history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6CE1AA-4D36-42BD-8442-078DB3E3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Different quantities and footprints remain separate. Missing observations stay unknown.</a:t>
            </a:r>
          </a:p>
        </p:txBody>
      </p:sp>
    </p:spTree>
    <p:extLst>
      <p:ext uri="{BB962C8B-B14F-4D97-AF65-F5344CB8AC3E}">
        <p14:creationId xmlns:p14="http://schemas.microsoft.com/office/powerpoint/2010/main" val="11771177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0A9114-098C-4A52-BCA0-65C71596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UAE atmospheric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DE6263-FC7B-40BF-BEBE-B13E5D49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CA7B3A-93CC-4725-9DE8-A3C530D3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5FDCAA-0A3F-44CE-8828-CB298E94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Dubai and Jebel Ali · 5 km radius comparison circles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2228850"/>
          <a:ext xmlns:a="http://schemas.openxmlformats.org/drawingml/2006/main" cx="109728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86125"/>
                <a:gridCol w="3838575"/>
                <a:gridCol w="38481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Quantity / window</a:t>
                      </a:r>
                    </a:p>
                  </a:txBody>
                  <a:tcPr marL="91440" marR="91440" marT="45720" marB="45720">
                    <a:solidFill>
                      <a:srgbClr val="0C55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Dubai mean · usable days</a:t>
                      </a:r>
                    </a:p>
                  </a:txBody>
                  <a:tcPr marL="91440" marR="91440" marT="45720" marB="45720">
                    <a:solidFill>
                      <a:srgbClr val="0C55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Jebel Ali mean · usable days</a:t>
                      </a:r>
                    </a:p>
                  </a:txBody>
                  <a:tcPr marL="91440" marR="91440" marT="45720" marB="45720">
                    <a:solidFill>
                      <a:srgbClr val="0C554E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NO₂ · Jan–Aug 2026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207.85 µmol/m² · 226/243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206.67 µmol/m² · 224/243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CO · Aug–Sep 2026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36.33 mmol/m² · 52/61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37.70 mmol/m² · 60/61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SO₂ · Aug–Sep 2026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145.83 µmol/m² · 60/61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143.96 µmol/m² · 60/61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Regional CH₄ · Aug–Sep 2026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1966.93 ppb · 33/61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1969.56 ppb · 37/61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296D2B-C180-46F5-B114-552A20C8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Different valid days and retrieval uncertainty limit comparisons.</a:t>
            </a:r>
          </a:p>
          <a:p xmlns:a="http://schemas.openxmlformats.org/drawingml/2006/main">
            <a:pPr>
              <a:buNone/>
              <a:defRPr sz="195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These means alone do not establish significance or identify an emission source.</a:t>
            </a:r>
          </a:p>
        </p:txBody>
      </p:sp>
    </p:spTree>
    <p:extLst>
      <p:ext uri="{BB962C8B-B14F-4D97-AF65-F5344CB8AC3E}">
        <p14:creationId xmlns:p14="http://schemas.microsoft.com/office/powerpoint/2010/main" val="16332298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27E088-C3B0-4956-873D-0AED0492A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Dated methane screening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E3B0F-839F-4A94-84D5-4AD1A0E2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1F7821-1A15-45F4-956A-79F5BD60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A5918F-8FE0-49B9-B842-0D09F391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0953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22 September 2026 observation · 9 September reference</a:t>
            </a:r>
          </a:p>
          <a:p xmlns:a="http://schemas.openxmlformats.org/drawingml/2006/main">
            <a:pPr>
              <a:buNone/>
              <a:defRPr sz="2025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23.86479° N, 53.61893° E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c2459abb234318"/>
          <a:stretch xmlns:a="http://schemas.openxmlformats.org/drawingml/2006/main"/>
        </p:blipFill>
        <p:spPr>
          <a:xfrm xmlns:a="http://schemas.openxmlformats.org/drawingml/2006/main">
            <a:off x="609600" y="2571452"/>
            <a:ext cx="7858125" cy="284857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E3F5F3-B4A2-4F15-AC91-9BACD4DD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14625"/>
            <a:ext cx="2476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1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46E2D-E4A0-4C49-AB77-B7D5F12F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52825"/>
            <a:ext cx="2524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candidate pixels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B52AEF-0164-4EA2-9714-D701FB0C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181475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96.04%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FC77C0-F35D-497D-8BA2-86068FAE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19650"/>
            <a:ext cx="2524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usable coverage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DBFFDC-A961-4B0E-BAA9-34A938AD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No candidate is not proof of zero methane. Coverage is not model accuracy.</a:t>
            </a:r>
          </a:p>
        </p:txBody>
      </p:sp>
    </p:spTree>
    <p:extLst>
      <p:ext uri="{BB962C8B-B14F-4D97-AF65-F5344CB8AC3E}">
        <p14:creationId xmlns:p14="http://schemas.microsoft.com/office/powerpoint/2010/main" val="2487040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B43ACC-D32B-4CD0-885D-F2A46CBB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Review an area in GeoGuard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060114-1ABE-4F64-BC68-D7E83D8E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D2F857-32BD-41B1-A6B8-84F27069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DAC837-8819-40C6-B89B-A542D66C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D9A5C3-94FB-41C2-9E66-ABFDC2F6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8097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Choose an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CB62FA-1CCD-4B82-92F7-469CC0C6D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29552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Select Dubai and NO₂: inspect the measured column and usable days.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6EC2B9-9430-4547-BF27-8302B17F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C1F5FA-8CF9-4E1F-B08B-833CF626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8384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Read the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156E19-31DA-48B4-9CC6-CDB991BC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32422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Compare Jebel Ali and monthly history; the mean difference is inconclusive.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F8217C-6E8E-4C4E-B8C5-4B196681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A6ECE5-0D9C-4134-9E53-E698465D1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8671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Inspect methane candidates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03F3D8-D263-4CCA-831D-F0459905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35292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Select the separate methane example; 0 candidates does not prove zero methane.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44B693-C565-45B1-81D3-9446BA62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3AD0E9-8C54-48EA-9C74-76898994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8958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Export and follow up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C56C2A-1B70-4F80-B831-89B8A368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38162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Download current evidence; review it before gas-specific field follow-up.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7CC210-A9CE-4067-B188-AEE3DBE8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5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Bundled NO₂ has area/history results; CO, SO₂ and regional CH₄ include archived map layers.</a:t>
            </a:r>
          </a:p>
        </p:txBody>
      </p:sp>
    </p:spTree>
    <p:extLst>
      <p:ext uri="{BB962C8B-B14F-4D97-AF65-F5344CB8AC3E}">
        <p14:creationId xmlns:p14="http://schemas.microsoft.com/office/powerpoint/2010/main" val="16490698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71D439-67E0-48EF-B59F-0CBD49AB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Actual area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163914-2F62-4F44-B55C-A3CD864D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5FFF62-E3E8-4286-A7E3-0D446471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013aadfb314f53"/>
          <a:stretch xmlns:a="http://schemas.openxmlformats.org/drawingml/2006/main"/>
        </p:blipFill>
        <p:spPr>
          <a:xfrm xmlns:a="http://schemas.openxmlformats.org/drawingml/2006/main">
            <a:off x="883660" y="1685925"/>
            <a:ext cx="6405130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BA24F5-3393-4F39-81CB-3ECD95AD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1857375"/>
            <a:ext cx="3486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Dubai · NO₂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54465E-A97E-450C-99A1-ED8E98959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524125"/>
            <a:ext cx="3476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207.85 µmol/m²</a:t>
            </a:r>
          </a:p>
          <a:p xmlns:a="http://schemas.openxmlformats.org/drawingml/2006/main">
            <a:pPr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226 / 243 usable days</a:t>
            </a:r>
          </a:p>
          <a:p xmlns:a="http://schemas.openxmlformats.org/drawingml/2006/main">
            <a:pPr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January–August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0DA71-96C1-4B9E-BFE0-00398970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191000"/>
            <a:ext cx="34766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The methane record belongs</a:t>
            </a:r>
          </a:p>
          <a:p xmlns:a="http://schemas.openxmlformats.org/drawingml/2006/main">
            <a:pPr>
              <a:defRPr sz="19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to another selected location.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The analyst receives dated</a:t>
            </a:r>
          </a:p>
          <a:p xmlns:a="http://schemas.openxmlformats.org/drawingml/2006/main">
            <a:pPr>
              <a:defRPr sz="19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evidence, not a source verdict.</a:t>
            </a:r>
          </a:p>
        </p:txBody>
      </p:sp>
    </p:spTree>
    <p:extLst>
      <p:ext uri="{BB962C8B-B14F-4D97-AF65-F5344CB8AC3E}">
        <p14:creationId xmlns:p14="http://schemas.microsoft.com/office/powerpoint/2010/main" val="21239359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E20E2A-3350-4105-966E-773BC6EC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Reproducibility and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F6DA17-7753-4F49-B07F-1CB3771D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2F6BE0-C900-4F20-95E6-38278730A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EC5850-F949-40DB-8EC1-60A5E2242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Reproducible data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0921D-CB87-402C-B23E-6A8F0CBD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The pinned PoC recalculates archived atmospheric inputs and replays methane evidence.</a:t>
            </a:r>
          </a:p>
          <a:p xmlns:a="http://schemas.openxmlformats.org/drawingml/2006/main">
            <a:pPr>
              <a:buNone/>
              <a:defRPr sz="22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Daily, monthly and period summaries match the exported observations.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522B0C-05A1-456F-AEDD-D4212DCE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1085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30 software tests passed on 7 October 2026; outputs are available for review.</a:t>
            </a:r>
          </a:p>
          <a:p xmlns:a="http://schemas.openxmlformats.org/drawingml/2006/main">
            <a:pPr>
              <a:buNone/>
              <a:defRPr sz="22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Reviewed methane-positive/negative cases and false-alarm performance are not established.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0242EB-C710-4674-BCA3-B6913D40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Software verification does not establish independent UAE detection accuracy.</a:t>
            </a:r>
          </a:p>
        </p:txBody>
      </p:sp>
    </p:spTree>
    <p:extLst>
      <p:ext uri="{BB962C8B-B14F-4D97-AF65-F5344CB8AC3E}">
        <p14:creationId xmlns:p14="http://schemas.microsoft.com/office/powerpoint/2010/main" val="39185739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A40963-52AB-42D5-9BB6-8167894B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Proposed validation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4353A-5732-4E62-8552-93175C18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F20556-D136-49FF-8883-0D60F0156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63C40C-1C58-4860-971E-E6F299D0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Scientific evaluation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F8A415-831F-4902-A395-E34B1226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52197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One willing monitoring partner, one area;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four weeks after data access is arranged.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Review plume / no-plume and confounder cases.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Freeze thresholds; hold out dates and locations.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Report event counts, precision/recall and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unknown cases where labels support them.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E7FB8-B268-41BA-B99F-D8CEC407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90700"/>
            <a:ext cx="5095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User evaluation and gates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FD9B87-B6CE-48B8-920E-C2F5B5EE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71750"/>
            <a:ext cx="5095875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Three intended users compare review/export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with their existing workflow. Record time,</a:t>
            </a:r>
          </a:p>
          <a:p xmlns:a="http://schemas.openxmlformats.org/drawingml/2006/main">
            <a:pPr>
              <a:defRPr sz="2025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03D36"/>
                </a:solidFill>
                <a:latin typeface="Arial"/>
                <a:ea typeface="Arial"/>
                <a:cs typeface="Arial"/>
              </a:rPr>
              <a:t>completion and interpretation errors.</a:t>
            </a:r>
          </a:p>
          <a:p xmlns:a="http://schemas.openxmlformats.org/drawingml/2006/main">
            <a:pPr>
              <a:buNone/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Agree accuracy/false-alarm targets first.</a:t>
            </a:r>
          </a:p>
          <a:p xmlns:a="http://schemas.openxmlformats.org/drawingml/2006/main">
            <a:pPr>
              <a:defRPr sz="2025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03D36"/>
                </a:solidFill>
                <a:latin typeface="Arial"/>
                <a:ea typeface="Arial"/>
                <a:cs typeface="Arial"/>
              </a:rPr>
              <a:t>Advance only if targets are met and all three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users interpret dates, units and unknowns.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FA1E05-451A-4E3E-8AEF-6503EE33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Planned: no partner commitment or user feedback yet. Sparse imagery may extend collection.</a:t>
            </a:r>
          </a:p>
        </p:txBody>
      </p:sp>
    </p:spTree>
    <p:extLst>
      <p:ext uri="{BB962C8B-B14F-4D97-AF65-F5344CB8AC3E}">
        <p14:creationId xmlns:p14="http://schemas.microsoft.com/office/powerpoint/2010/main" val="4246796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09344B-D47B-45C3-96D9-79DC2476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Team and pilot support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173FE0-6703-448A-943C-430371C7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B1942B-C05C-41CB-BBBB-EA73F97D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88259A-9C54-4E8C-A38E-3693518F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335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Zainab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AB1F19-6D03-4397-B91A-B199AC05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Pollutants, sources</a:t>
            </a:r>
          </a:p>
          <a:p xmlns:a="http://schemas.openxmlformats.org/drawingml/2006/main">
            <a:pPr>
              <a:buNone/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and sensing methods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0D1ABC-F2A5-479E-BAEA-4C1708D6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335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Raseel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F972B0-D21A-4B5F-A0B6-316AC851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71750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Earth Engine mapping</a:t>
            </a:r>
          </a:p>
          <a:p xmlns:a="http://schemas.openxmlformats.org/drawingml/2006/main">
            <a:pPr>
              <a:buNone/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and comparison areas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8DC95-BD76-467E-9E61-04294744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9335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Abdulaziz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D27D3F-83AE-4E4B-B069-4FA43DEB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71750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AI methane screening</a:t>
            </a:r>
          </a:p>
          <a:p xmlns:a="http://schemas.openxmlformats.org/drawingml/2006/main">
            <a:pPr>
              <a:buNone/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and project integration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C310D5-2FC6-42CF-8B4F-BC47070B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3716A"/>
                </a:solidFill>
                <a:latin typeface="Arial"/>
                <a:ea typeface="Arial"/>
                <a:cs typeface="Arial"/>
              </a:rPr>
              <a:t>Requested support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CD7CEA-EEE0-45E2-B1CB-6B52B4C2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90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>A monitoring partner, independently reviewed cases and analyst feedback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3BEEF5-605C-4E1B-B57F-F294F9D6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3716A"/>
                </a:solidFill>
                <a:latin typeface="Arial"/>
                <a:ea typeface="Arial"/>
                <a:cs typeface="Arial"/>
              </a:rPr>
              <a:t>Demo and reproducible PoC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B7D17E-EE60-462F-B018-43ADDF6E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>losth6wz.github.io/Geoguard/  ·  github.com/losth6wz/Geoguard</a:t>
            </a:r>
          </a:p>
        </p:txBody>
      </p:sp>
    </p:spTree>
    <p:extLst>
      <p:ext uri="{BB962C8B-B14F-4D97-AF65-F5344CB8AC3E}">
        <p14:creationId xmlns:p14="http://schemas.microsoft.com/office/powerpoint/2010/main" val="5930545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9B98C8-04B2-4059-BA15-4A023D60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Data and model attribution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2133BB-EE80-4C1A-8E45-F7CFFA3E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8990B-CFF0-4AB8-B454-4D8395DF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E51337-499C-42D2-9480-A7B2A4A5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0906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Copernicus Sentinel-5P / Sentinel-2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8044DB-CBB8-4735-AD50-05EE5AB2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2026 satellite observations; Earth Engine and public imagery archives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2B0776-CC33-4909-99D8-0380FD85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06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UNEP IMEO MARS-S2L + CloudSEN12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E2B77F-6861-4D57-A005-122E4753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0906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Pretrained models; MARS-S2L CC BY-NC-SA 4.0, CloudSEN12 weights CC BY-NC 4.0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E44197-4E3A-4CEC-9A6F-C79D892D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06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NASA GEOS-FP / recorded GFS fallback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798CBE-AACF-4814-9494-2BCCE874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Modeled wind matched to acquisition time; source and fallback recorded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B00D37-DDD2-4D9D-97FC-AA031B24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06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Full references and applicable terms: THIRD_PARTY_NOTICES.md in the repository</a:t>
            </a:r>
          </a:p>
        </p:txBody>
      </p:sp>
    </p:spTree>
    <p:extLst>
      <p:ext uri="{BB962C8B-B14F-4D97-AF65-F5344CB8AC3E}">
        <p14:creationId xmlns:p14="http://schemas.microsoft.com/office/powerpoint/2010/main" val="17057786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2026-10-08T22:11:00.1920000Z</dcterms:created>
  <dcterms:modified xsi:type="dcterms:W3CDTF">2026-10-08T22:11:00.1920000Z</dcterms:modified>
</coreProperties>
</file>